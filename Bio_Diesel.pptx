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4" r:id="rId8"/>
    <p:sldId id="259" r:id="rId9"/>
    <p:sldId id="263" r:id="rId10"/>
    <p:sldId id="266" r:id="rId11"/>
    <p:sldId id="268" r:id="rId12"/>
    <p:sldId id="267" r:id="rId13"/>
    <p:sldId id="269" r:id="rId14"/>
    <p:sldId id="265" r:id="rId15"/>
    <p:sldId id="273" r:id="rId16"/>
    <p:sldId id="274" r:id="rId17"/>
    <p:sldId id="271" r:id="rId18"/>
    <p:sldId id="272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484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930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50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70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783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753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94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76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68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021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10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9470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6787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71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658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97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07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0ECEB-D3A2-4B6A-8F95-07E3D57A882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1699E-E2F5-4EC6-BF27-3B3E773FDA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752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di.unipi.it/milazzo/teaching/AA1819-CMCS/slides/04-ChemicalReactionMetaphor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4EB1E7-5AF9-9EC6-6616-8A68E7F77A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Scientific </a:t>
            </a: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779699-F376-D3E1-39AB-594D8F97A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PINN Biodiesel </a:t>
            </a:r>
            <a:r>
              <a:rPr lang="de-DE" dirty="0" err="1"/>
              <a:t>processes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478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301D9-8328-C0CA-577A-E99E384A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3438F3-1493-040E-AD90-BBD9BDBA7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402325"/>
          </a:xfrm>
        </p:spPr>
        <p:txBody>
          <a:bodyPr>
            <a:normAutofit/>
          </a:bodyPr>
          <a:lstStyle/>
          <a:p>
            <a:r>
              <a:rPr lang="de-DE" dirty="0"/>
              <a:t>Theory</a:t>
            </a:r>
          </a:p>
          <a:p>
            <a:pPr lvl="1"/>
            <a:r>
              <a:rPr lang="de-DE" dirty="0"/>
              <a:t>Chemical </a:t>
            </a:r>
            <a:r>
              <a:rPr lang="de-DE" dirty="0" err="1"/>
              <a:t>Reactions</a:t>
            </a:r>
            <a:endParaRPr lang="de-DE" dirty="0"/>
          </a:p>
          <a:p>
            <a:pPr lvl="1"/>
            <a:r>
              <a:rPr lang="de-DE" dirty="0"/>
              <a:t>ODE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bio</a:t>
            </a:r>
            <a:r>
              <a:rPr lang="de-DE" dirty="0"/>
              <a:t> </a:t>
            </a:r>
            <a:r>
              <a:rPr lang="de-DE" dirty="0" err="1"/>
              <a:t>diesel</a:t>
            </a:r>
            <a:r>
              <a:rPr lang="de-DE" dirty="0"/>
              <a:t> </a:t>
            </a:r>
            <a:r>
              <a:rPr lang="de-DE" dirty="0" err="1"/>
              <a:t>reaction</a:t>
            </a:r>
            <a:endParaRPr lang="de-DE" dirty="0"/>
          </a:p>
          <a:p>
            <a:pPr lvl="1"/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Networks</a:t>
            </a:r>
          </a:p>
          <a:p>
            <a:r>
              <a:rPr lang="de-DE" dirty="0"/>
              <a:t>Project </a:t>
            </a:r>
            <a:r>
              <a:rPr lang="de-DE" dirty="0" err="1"/>
              <a:t>overview</a:t>
            </a:r>
            <a:endParaRPr lang="de-DE" dirty="0"/>
          </a:p>
          <a:p>
            <a:r>
              <a:rPr lang="de-DE" dirty="0" err="1"/>
              <a:t>Arteficial</a:t>
            </a:r>
            <a:r>
              <a:rPr lang="de-DE" dirty="0"/>
              <a:t> Data + PINN</a:t>
            </a:r>
          </a:p>
          <a:p>
            <a:r>
              <a:rPr lang="de-DE" dirty="0" err="1"/>
              <a:t>Experiemental</a:t>
            </a:r>
            <a:r>
              <a:rPr lang="de-DE" dirty="0"/>
              <a:t> Data</a:t>
            </a:r>
          </a:p>
          <a:p>
            <a:pPr lvl="1"/>
            <a:r>
              <a:rPr lang="de-DE" dirty="0"/>
              <a:t>Modelling </a:t>
            </a:r>
            <a:r>
              <a:rPr lang="de-DE" dirty="0" err="1"/>
              <a:t>with</a:t>
            </a:r>
            <a:r>
              <a:rPr lang="de-DE" dirty="0"/>
              <a:t> ODE</a:t>
            </a:r>
          </a:p>
          <a:p>
            <a:pPr lvl="1"/>
            <a:r>
              <a:rPr lang="de-DE" dirty="0"/>
              <a:t>PINN </a:t>
            </a:r>
            <a:r>
              <a:rPr lang="de-DE" dirty="0" err="1"/>
              <a:t>with</a:t>
            </a:r>
            <a:r>
              <a:rPr lang="de-DE" dirty="0"/>
              <a:t> experimental Data</a:t>
            </a:r>
          </a:p>
          <a:p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674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A4306-18D9-FC3C-6359-C2E53C03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action kinetics of chemical reactions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8C55C6E-B170-7136-C2BC-CBD4B97FC5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Definition: Law of mass action:</a:t>
                </a:r>
              </a:p>
              <a:p>
                <a:pPr marL="0" indent="0">
                  <a:buNone/>
                </a:pPr>
                <a:r>
                  <a:rPr lang="en-US" dirty="0"/>
                  <a:t>The rate of a chemical reaction is proportional to the product of the concentrations of its reactants.</a:t>
                </a:r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2 H</a:t>
                </a:r>
                <a:r>
                  <a:rPr lang="de-DE" baseline="-25000" dirty="0"/>
                  <a:t>2</a:t>
                </a:r>
                <a:r>
                  <a:rPr lang="de-DE" dirty="0"/>
                  <a:t>+O</a:t>
                </a:r>
                <a:r>
                  <a:rPr lang="de-DE" baseline="-25000" dirty="0"/>
                  <a:t> 2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dirty="0"/>
                            <m:t>⇌</m:t>
                          </m:r>
                        </m:e>
                      </m:mr>
                      <m:m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mr>
                    </m:m>
                  </m:oMath>
                </a14:m>
                <a:r>
                  <a:rPr lang="de-DE" dirty="0"/>
                  <a:t> 2 H</a:t>
                </a:r>
                <a:r>
                  <a:rPr lang="de-DE" baseline="-25000" dirty="0"/>
                  <a:t>2</a:t>
                </a:r>
                <a:r>
                  <a:rPr lang="de-DE" dirty="0"/>
                  <a:t>O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8C55C6E-B170-7136-C2BC-CBD4B97FC5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1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03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3F7A47-E071-C79E-F36E-DEAACBF1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3B51F0A-63D2-BFA7-3D2B-35F30A32E8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de-DE" dirty="0"/>
                  <a:t>Chemical </a:t>
                </a:r>
                <a:r>
                  <a:rPr lang="de-DE" dirty="0" err="1"/>
                  <a:t>reactions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a) </a:t>
                </a:r>
                <a:r>
                  <a:rPr lang="de-DE" dirty="0" err="1"/>
                  <a:t>reversable</a:t>
                </a:r>
                <a:r>
                  <a:rPr lang="de-DE" dirty="0"/>
                  <a:t> b) parallel</a:t>
                </a:r>
              </a:p>
              <a:p>
                <a:r>
                  <a:rPr lang="de-DE" dirty="0"/>
                  <a:t>A)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dirty="0"/>
                            <m:t>⇌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mr>
                    </m:m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de-DE" dirty="0"/>
              </a:p>
              <a:p>
                <a:r>
                  <a:rPr lang="de-DE" dirty="0"/>
                  <a:t>B)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  <m:groupChr>
                      <m:groupChrPr>
                        <m:chr m:val="→"/>
                        <m:vertJc m:val="bot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de-DE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      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dirty="0"/>
                            <m:t>⇌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mr>
                    </m:m>
                    <m:r>
                      <a:rPr lang="de-DE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US" i="1" dirty="0"/>
                  <a:t>k</a:t>
                </a:r>
                <a:r>
                  <a:rPr lang="en-US" i="1" baseline="-25000" dirty="0"/>
                  <a:t>i</a:t>
                </a:r>
                <a:r>
                  <a:rPr lang="en-US" dirty="0"/>
                  <a:t> reaction constant </a:t>
                </a:r>
              </a:p>
              <a:p>
                <a:pPr marL="0" indent="0">
                  <a:buNone/>
                </a:pPr>
                <a:r>
                  <a:rPr lang="en-US" i="1" dirty="0"/>
                  <a:t>A, B, C</a:t>
                </a:r>
                <a:r>
                  <a:rPr lang="en-US" dirty="0"/>
                  <a:t>… Educts and products of chemical reaction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3B51F0A-63D2-BFA7-3D2B-35F30A32E8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5" t="-20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67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84D81-B6CF-1143-D007-3AC3B5BF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ODE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chemical</a:t>
            </a:r>
            <a:r>
              <a:rPr lang="de-DE" dirty="0"/>
              <a:t> </a:t>
            </a:r>
            <a:r>
              <a:rPr lang="de-DE" dirty="0" err="1"/>
              <a:t>reaction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D776165D-ADC5-B225-2821-6CEF360316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de-DE" dirty="0"/>
                  <a:t>Chemical </a:t>
                </a:r>
                <a:r>
                  <a:rPr lang="de-DE" dirty="0" err="1"/>
                  <a:t>reaction</a:t>
                </a:r>
                <a:r>
                  <a:rPr lang="de-DE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/>
                          </m:sSub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dirty="0"/>
                            <m:t>⇌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mr>
                    </m:m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r>
                  <a:rPr lang="de-DE" dirty="0"/>
                  <a:t>Rate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reaction</a:t>
                </a:r>
                <a:r>
                  <a:rPr lang="de-DE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…[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sub>
                        </m:sSub>
                      </m:sup>
                    </m:sSup>
                  </m:oMath>
                </a14:m>
                <a:endParaRPr lang="de-DE" dirty="0"/>
              </a:p>
              <a:p>
                <a:r>
                  <a:rPr lang="de-DE" dirty="0"/>
                  <a:t>Rate </a:t>
                </a:r>
                <a:r>
                  <a:rPr lang="de-DE" dirty="0" err="1"/>
                  <a:t>of</a:t>
                </a:r>
                <a:r>
                  <a:rPr lang="de-DE" dirty="0"/>
                  <a:t> inverse </a:t>
                </a:r>
                <a:r>
                  <a:rPr lang="de-DE" dirty="0" err="1"/>
                  <a:t>reaction</a:t>
                </a:r>
                <a:r>
                  <a:rPr lang="de-DE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…[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</m:sup>
                    </m:sSup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D776165D-ADC5-B225-2821-6CEF36031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50" t="-2582" b="-18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0F69BE5-E30C-9EE7-DCA6-91999886A84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reactants and products respectively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stoichiometric coefficients</a:t>
                </a:r>
              </a:p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 err="1"/>
                  <a:t>kinetic</a:t>
                </a:r>
                <a:r>
                  <a:rPr lang="de-DE" dirty="0"/>
                  <a:t> </a:t>
                </a:r>
                <a:r>
                  <a:rPr lang="de-DE" dirty="0" err="1"/>
                  <a:t>consatants</a:t>
                </a: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de-DE" dirty="0" err="1"/>
                  <a:t>concetration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en-US" dirty="0"/>
                  <a:t>reactants and products respectively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0F69BE5-E30C-9EE7-DCA6-91999886A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77" t="-25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43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E9937EE-88D2-999C-2448-C83BF286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3A07BF3E-1A7D-879F-6348-EE46134564C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41410" y="618518"/>
                <a:ext cx="4878389" cy="517268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7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7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/>
                            </m:sSub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de-DE" sz="1700" dirty="0"/>
                              <m:t>⇌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de-DE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7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de-DE" sz="17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mr>
                      </m:m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7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de-DE" sz="17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1700" b="1" dirty="0"/>
                  <a:t>ODE: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17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7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700" b="0" i="0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de-DE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DE" sz="17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de-DE" sz="1700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de-DE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7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de-DE" sz="17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de-DE" sz="17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sup>
                      </m:sSup>
                      <m:r>
                        <a:rPr lang="de-DE" sz="17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7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de-DE" sz="1700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DE" sz="17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1700" dirty="0"/>
              </a:p>
              <a:p>
                <a:pPr marL="0" indent="0">
                  <a:lnSpc>
                    <a:spcPts val="400"/>
                  </a:lnSpc>
                  <a:spcBef>
                    <a:spcPts val="600"/>
                  </a:spcBef>
                  <a:buNone/>
                </a:pPr>
                <a:r>
                  <a:rPr lang="de-DE" sz="1700" dirty="0"/>
                  <a:t>.</a:t>
                </a:r>
              </a:p>
              <a:p>
                <a:pPr marL="0" indent="0">
                  <a:lnSpc>
                    <a:spcPts val="400"/>
                  </a:lnSpc>
                  <a:spcBef>
                    <a:spcPts val="600"/>
                  </a:spcBef>
                  <a:buNone/>
                </a:pPr>
                <a:r>
                  <a:rPr lang="de-DE" sz="1700" dirty="0"/>
                  <a:t>.</a:t>
                </a:r>
              </a:p>
              <a:p>
                <a:pPr marL="0" indent="0">
                  <a:lnSpc>
                    <a:spcPts val="400"/>
                  </a:lnSpc>
                  <a:spcBef>
                    <a:spcPts val="600"/>
                  </a:spcBef>
                  <a:buNone/>
                </a:pPr>
                <a:r>
                  <a:rPr lang="de-DE" sz="1700" dirty="0"/>
                  <a:t>.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sz="17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b="0" i="0" smtClean="0"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  <m:r>
                      <a:rPr lang="de-DE" sz="17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1700" dirty="0"/>
                  <a:t>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7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700" i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de-DE" sz="1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7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de-DE" sz="1700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sup>
                      </m:sSup>
                      <m:r>
                        <a:rPr lang="de-DE" sz="17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de-DE" sz="1700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de-DE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7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de-DE" sz="17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1700" dirty="0"/>
              </a:p>
              <a:p>
                <a:pPr marL="0" indent="0">
                  <a:lnSpc>
                    <a:spcPts val="600"/>
                  </a:lnSpc>
                  <a:buNone/>
                </a:pPr>
                <a:r>
                  <a:rPr lang="de-DE" sz="1700" dirty="0"/>
                  <a:t>.</a:t>
                </a:r>
              </a:p>
              <a:p>
                <a:pPr marL="0" indent="0">
                  <a:lnSpc>
                    <a:spcPts val="600"/>
                  </a:lnSpc>
                  <a:buNone/>
                </a:pPr>
                <a:r>
                  <a:rPr lang="de-DE" sz="1700" dirty="0"/>
                  <a:t>.</a:t>
                </a:r>
              </a:p>
              <a:p>
                <a:pPr marL="0" indent="0">
                  <a:lnSpc>
                    <a:spcPts val="600"/>
                  </a:lnSpc>
                  <a:buNone/>
                </a:pPr>
                <a:r>
                  <a:rPr lang="de-DE" sz="17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7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 sz="17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  <m:r>
                            <a:rPr lang="de-DE" sz="17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700" i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de-DE" sz="1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7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de-DE" sz="17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3A07BF3E-1A7D-879F-6348-EE4613456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41410" y="618518"/>
                <a:ext cx="4878389" cy="5172682"/>
              </a:xfrm>
              <a:blipFill>
                <a:blip r:embed="rId2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C11AF8CD-5B94-D72A-A0F9-BDCC465E92F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618518"/>
                <a:ext cx="4875211" cy="5172682"/>
              </a:xfrm>
            </p:spPr>
            <p:txBody>
              <a:bodyPr>
                <a:normAutofit/>
              </a:bodyPr>
              <a:lstStyle/>
              <a:p>
                <a:r>
                  <a:rPr lang="de-DE" sz="1700" b="1" dirty="0" err="1"/>
                  <a:t>Example</a:t>
                </a:r>
                <a:endParaRPr lang="de-DE" sz="1700" b="1" dirty="0"/>
              </a:p>
              <a:p>
                <a:r>
                  <a:rPr lang="de-DE" sz="1700" dirty="0"/>
                  <a:t>2 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+O</a:t>
                </a:r>
                <a:r>
                  <a:rPr lang="de-DE" sz="1700" baseline="-25000" dirty="0"/>
                  <a:t> 2</a:t>
                </a:r>
                <a:r>
                  <a:rPr lang="de-DE" sz="1700" dirty="0"/>
                  <a:t>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de-DE" sz="17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sz="1700" dirty="0"/>
                            <m:t>⇌</m:t>
                          </m:r>
                        </m:e>
                      </m:mr>
                      <m:mr>
                        <m:e>
                          <m:r>
                            <a:rPr lang="de-DE" sz="1700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mr>
                    </m:m>
                  </m:oMath>
                </a14:m>
                <a:r>
                  <a:rPr lang="de-DE" sz="1700" dirty="0"/>
                  <a:t> 2 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O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1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de-DE" sz="17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lang="de-DE" sz="17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1700" dirty="0"/>
                  <a:t>2·0.5[H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O]</a:t>
                </a:r>
                <a:r>
                  <a:rPr lang="de-DE" sz="1700" baseline="30000" dirty="0"/>
                  <a:t>2</a:t>
                </a:r>
                <a:r>
                  <a:rPr lang="de-DE" sz="1700" dirty="0"/>
                  <a:t> - 2·5[H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]</a:t>
                </a:r>
                <a:r>
                  <a:rPr lang="de-DE" sz="1700" baseline="30000" dirty="0"/>
                  <a:t>2</a:t>
                </a:r>
                <a:r>
                  <a:rPr lang="de-DE" sz="1700" dirty="0"/>
                  <a:t> [O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]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  <m:r>
                      <a:rPr lang="de-DE" sz="17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1700" dirty="0"/>
                  <a:t>0.5[H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O]</a:t>
                </a:r>
                <a:r>
                  <a:rPr lang="de-DE" sz="1700" baseline="30000" dirty="0"/>
                  <a:t>2</a:t>
                </a:r>
                <a:r>
                  <a:rPr lang="de-DE" sz="1700" dirty="0"/>
                  <a:t> - 5[H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]</a:t>
                </a:r>
                <a:r>
                  <a:rPr lang="de-DE" sz="1700" baseline="30000" dirty="0"/>
                  <a:t>2</a:t>
                </a:r>
                <a:r>
                  <a:rPr lang="de-DE" sz="1700" dirty="0"/>
                  <a:t> [O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]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de-DE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e-DE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i="0"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  <m:r>
                      <a:rPr lang="de-DE" sz="17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1700" dirty="0"/>
                  <a:t>2·5 [H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]</a:t>
                </a:r>
                <a:r>
                  <a:rPr lang="de-DE" sz="1700" baseline="30000" dirty="0"/>
                  <a:t>2</a:t>
                </a:r>
                <a:r>
                  <a:rPr lang="de-DE" sz="1700" dirty="0"/>
                  <a:t> [O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]- 2·5[H</a:t>
                </a:r>
                <a:r>
                  <a:rPr lang="de-DE" sz="1700" baseline="-25000" dirty="0"/>
                  <a:t>2</a:t>
                </a:r>
                <a:r>
                  <a:rPr lang="de-DE" sz="1700" dirty="0"/>
                  <a:t>O]</a:t>
                </a:r>
                <a:r>
                  <a:rPr lang="de-DE" sz="1700" baseline="30000" dirty="0"/>
                  <a:t>2</a:t>
                </a:r>
                <a:r>
                  <a:rPr lang="de-DE" sz="1700" dirty="0"/>
                  <a:t> </a:t>
                </a: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C11AF8CD-5B94-D72A-A0F9-BDCC465E92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618518"/>
                <a:ext cx="4875211" cy="5172682"/>
              </a:xfrm>
              <a:blipFill>
                <a:blip r:embed="rId3"/>
                <a:stretch>
                  <a:fillRect l="-1252" t="-8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883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5B4B9-71B8-8018-9B1A-1667319A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863FD4-AB66-D848-2098-292701611B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reaction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and </a:t>
            </a:r>
            <a:r>
              <a:rPr lang="de-DE" dirty="0" err="1"/>
              <a:t>chain</a:t>
            </a:r>
            <a:r>
              <a:rPr lang="de-DE" dirty="0"/>
              <a:t> </a:t>
            </a:r>
            <a:r>
              <a:rPr lang="de-DE" dirty="0" err="1"/>
              <a:t>reactions</a:t>
            </a:r>
            <a:endParaRPr lang="de-DE" dirty="0"/>
          </a:p>
          <a:p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educts</a:t>
            </a:r>
            <a:r>
              <a:rPr lang="de-DE" dirty="0"/>
              <a:t> and </a:t>
            </a:r>
            <a:r>
              <a:rPr lang="de-DE" dirty="0" err="1"/>
              <a:t>conditions</a:t>
            </a:r>
            <a:endParaRPr lang="de-DE" dirty="0"/>
          </a:p>
          <a:p>
            <a:r>
              <a:rPr lang="de-DE" dirty="0" err="1"/>
              <a:t>Reconstructing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reverse/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ODEs </a:t>
            </a:r>
          </a:p>
          <a:p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empircal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-&gt; </a:t>
            </a:r>
            <a:r>
              <a:rPr lang="de-DE" dirty="0" err="1"/>
              <a:t>incomplete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6D5A7D-A82A-44F0-0AC8-3B96FD91F1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ODEs </a:t>
            </a:r>
            <a:r>
              <a:rPr lang="de-DE" dirty="0" err="1"/>
              <a:t>predicted</a:t>
            </a:r>
            <a:r>
              <a:rPr lang="de-DE" dirty="0"/>
              <a:t> </a:t>
            </a:r>
            <a:r>
              <a:rPr lang="de-DE" dirty="0" err="1"/>
              <a:t>ideally</a:t>
            </a:r>
            <a:r>
              <a:rPr lang="de-DE" dirty="0"/>
              <a:t> (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mixed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not </a:t>
            </a:r>
            <a:r>
              <a:rPr lang="de-DE" dirty="0" err="1"/>
              <a:t>considred</a:t>
            </a:r>
            <a:r>
              <a:rPr lang="de-DE" dirty="0"/>
              <a:t> </a:t>
            </a:r>
            <a:r>
              <a:rPr lang="de-DE" dirty="0" err="1"/>
              <a:t>etc</a:t>
            </a:r>
            <a:r>
              <a:rPr lang="de-DE" dirty="0"/>
              <a:t>)</a:t>
            </a:r>
          </a:p>
          <a:p>
            <a:r>
              <a:rPr lang="de-DE" dirty="0" err="1"/>
              <a:t>Neural</a:t>
            </a:r>
            <a:r>
              <a:rPr lang="de-DE" dirty="0"/>
              <a:t> network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optimises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07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FE557-9CAC-0695-20F3-732E4E3B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Topic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F06F26-2B7F-E937-28DE-4C5B227D2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April 22, 2025</a:t>
            </a:r>
          </a:p>
          <a:p>
            <a:r>
              <a:rPr lang="en-US" b="1" dirty="0"/>
              <a:t>Modeling Chemical Reaction Networks Using Neural Ordinary Differential Equations</a:t>
            </a:r>
          </a:p>
          <a:p>
            <a:r>
              <a:rPr lang="en-US" dirty="0"/>
              <a:t>September 13, 2023</a:t>
            </a:r>
          </a:p>
          <a:p>
            <a:r>
              <a:rPr lang="en-US" b="1" dirty="0"/>
              <a:t>Physics-Enhanced Neural Ordinary Differential Equations: Application to Industrial Chemical Reaction Systems</a:t>
            </a:r>
          </a:p>
          <a:p>
            <a:r>
              <a:rPr lang="en-US" dirty="0"/>
              <a:t>January 20, 2021</a:t>
            </a:r>
          </a:p>
          <a:p>
            <a:r>
              <a:rPr lang="en-US" b="1" dirty="0"/>
              <a:t>Autonomous Discovery of Unknown Reaction Pathways from Data by Chemical Reaction Neural Network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999080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10602-AAEB-E3AD-EF40-3296D678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Biodiesel Project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B536B-494F-1410-BD60-1F84E00C55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Experimental </a:t>
            </a:r>
            <a:r>
              <a:rPr lang="de-DE" dirty="0" err="1"/>
              <a:t>data</a:t>
            </a:r>
            <a:endParaRPr lang="de-DE" dirty="0"/>
          </a:p>
          <a:p>
            <a:r>
              <a:rPr lang="de-DE" dirty="0"/>
              <a:t>Given </a:t>
            </a: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E8F106-0840-8A36-A7F0-BCC23BD92C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Artefical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</a:p>
          <a:p>
            <a:r>
              <a:rPr lang="de-DE" dirty="0"/>
              <a:t>Create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known</a:t>
            </a:r>
            <a:r>
              <a:rPr lang="de-DE" dirty="0"/>
              <a:t> ODE and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noise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436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BF3EE2-423C-7D6D-964A-16A0BC40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Arteficial</a:t>
            </a:r>
            <a:r>
              <a:rPr lang="de-DE" dirty="0"/>
              <a:t>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6E77A05-6F3A-A7DE-0D57-8DCE12741B3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de-DE" dirty="0"/>
                  <a:t>Create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reaction</a:t>
                </a:r>
                <a:r>
                  <a:rPr lang="de-DE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dirty="0"/>
                            <m:t>⇌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mr>
                    </m:m>
                    <m:r>
                      <a:rPr lang="de-DE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𝐵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m:rPr>
                              <m:nor/>
                            </m:rPr>
                            <a:rPr lang="de-DE" dirty="0"/>
                            <m:t>⇌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mr>
                    </m:m>
                    <m:r>
                      <a:rPr lang="de-DE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de-DE" dirty="0"/>
              </a:p>
              <a:p>
                <a:r>
                  <a:rPr lang="de-DE" dirty="0"/>
                  <a:t>Solve ODE and </a:t>
                </a:r>
                <a:r>
                  <a:rPr lang="de-DE" dirty="0" err="1"/>
                  <a:t>add</a:t>
                </a:r>
                <a:r>
                  <a:rPr lang="de-DE" dirty="0"/>
                  <a:t> </a:t>
                </a:r>
                <a:r>
                  <a:rPr lang="de-DE" dirty="0" err="1"/>
                  <a:t>noise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6E77A05-6F3A-A7DE-0D57-8DCE12741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25" t="-1893" b="-37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nhaltsplatzhalter 5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03D4D8DA-2314-559C-A865-BFBADF3261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799" y="1142050"/>
            <a:ext cx="4875213" cy="2925127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5663257-D447-5F86-948E-274F1D721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799" y="4219575"/>
            <a:ext cx="3705225" cy="628650"/>
          </a:xfrm>
          <a:prstGeom prst="rect">
            <a:avLst/>
          </a:prstGeom>
        </p:spPr>
      </p:pic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26FD99C-6AA7-CE6C-7465-40F05AFF0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99" y="5000623"/>
            <a:ext cx="48291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A3EEE0-22A7-DD1E-5F5B-831FC1BC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 and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noise</a:t>
            </a:r>
            <a:endParaRPr lang="de-DE" dirty="0"/>
          </a:p>
        </p:txBody>
      </p:sp>
      <p:pic>
        <p:nvPicPr>
          <p:cNvPr id="6" name="Inhaltsplatzhalter 5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CBB4A27-7025-7738-710A-EC28DD09C3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3847" y="2249488"/>
            <a:ext cx="4413518" cy="3541712"/>
          </a:xfrm>
          <a:prstGeom prst="rect">
            <a:avLst/>
          </a:prstGeom>
        </p:spPr>
      </p:pic>
      <p:pic>
        <p:nvPicPr>
          <p:cNvPr id="8" name="Inhaltsplatzhalter 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844F4C79-5FF2-496E-2F30-D77A8E4B77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3047" y="2249488"/>
            <a:ext cx="4413518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5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E13BF-ABE1-C482-9D1B-1BDEAF76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PINN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arteficial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6F5205-4645-0D07-E383-3EF6F3627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Network </a:t>
            </a:r>
            <a:r>
              <a:rPr lang="de-DE" dirty="0" err="1"/>
              <a:t>definition</a:t>
            </a:r>
            <a:endParaRPr lang="de-DE" dirty="0"/>
          </a:p>
        </p:txBody>
      </p:sp>
      <p:pic>
        <p:nvPicPr>
          <p:cNvPr id="8" name="Grafik 7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4B91FDBE-B599-2581-3C43-60FEE0FAD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58" y="171450"/>
            <a:ext cx="5472091" cy="6281737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A5E268E-0B1A-F428-8B8B-AC81AF5BED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00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63584-EB7F-8C93-9006-AC922C70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2DA63-7D4F-8E26-7D86-1E75D31C3E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Loss: 0.0185 = 0.0185 (Base) + 0.0000 (Physics) for k=1,1,1,1</a:t>
            </a:r>
          </a:p>
          <a:p>
            <a:r>
              <a:rPr lang="en-US" dirty="0"/>
              <a:t>Loss: 0.1842 = 0.1752 (Base) + 0.0090 (Physics) for k = 7., 10., .1, 3.</a:t>
            </a:r>
            <a:endParaRPr lang="de-DE" dirty="0"/>
          </a:p>
        </p:txBody>
      </p:sp>
      <p:pic>
        <p:nvPicPr>
          <p:cNvPr id="6" name="Inhaltsplatzhalter 5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1557858C-D6D4-0F9C-2E3B-E1D31D941D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46287"/>
            <a:ext cx="4875213" cy="234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49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6ADBB-DC51-9ACB-9FE1-B98BFDF7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Experimental Data</a:t>
            </a:r>
          </a:p>
        </p:txBody>
      </p:sp>
      <p:pic>
        <p:nvPicPr>
          <p:cNvPr id="6" name="Inhaltsplatzhalter 5" descr="Ein Bild, das Text, Screenshot, Display, Diagramm enthält.&#10;&#10;KI-generierte Inhalte können fehlerhaft sein.">
            <a:extLst>
              <a:ext uri="{FF2B5EF4-FFF2-40B4-BE49-F238E27FC236}">
                <a16:creationId xmlns:a16="http://schemas.microsoft.com/office/drawing/2014/main" id="{05A931D2-C6DE-DFD6-F743-0EFEB300F7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51360" y="140636"/>
            <a:ext cx="4340640" cy="3288364"/>
          </a:xfrm>
          <a:prstGeom prst="rect">
            <a:avLst/>
          </a:prstGeom>
        </p:spPr>
      </p:pic>
      <p:pic>
        <p:nvPicPr>
          <p:cNvPr id="8" name="Inhaltsplatzhalter 7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9C775499-3314-AB16-EE8F-7D5E31740A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67510" y="3682348"/>
            <a:ext cx="4224490" cy="317565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7D1608F-A60C-FB05-EB4B-3241BAA1E4FF}"/>
              </a:ext>
            </a:extLst>
          </p:cNvPr>
          <p:cNvSpPr txBox="1"/>
          <p:nvPr/>
        </p:nvSpPr>
        <p:spPr>
          <a:xfrm>
            <a:off x="1424763" y="1945757"/>
            <a:ext cx="43406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- 3 different </a:t>
            </a:r>
            <a:r>
              <a:rPr lang="de-DE" dirty="0" err="1"/>
              <a:t>Microwave</a:t>
            </a:r>
            <a:r>
              <a:rPr lang="de-DE" dirty="0"/>
              <a:t> power </a:t>
            </a:r>
            <a:r>
              <a:rPr lang="de-DE" dirty="0" err="1"/>
              <a:t>inputs</a:t>
            </a:r>
            <a:endParaRPr lang="de-DE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The Higher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Mw</a:t>
            </a:r>
            <a:r>
              <a:rPr lang="de-DE" dirty="0"/>
              <a:t> power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shorter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experiment</a:t>
            </a:r>
            <a:r>
              <a:rPr lang="de-DE" dirty="0"/>
              <a:t> </a:t>
            </a:r>
            <a:r>
              <a:rPr lang="de-DE" dirty="0" err="1"/>
              <a:t>duration</a:t>
            </a: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Outputs:</a:t>
            </a:r>
          </a:p>
          <a:p>
            <a:pPr marL="742950" lvl="1" indent="-285750">
              <a:buFontTx/>
              <a:buChar char="-"/>
            </a:pPr>
            <a:r>
              <a:rPr lang="de-DE" dirty="0" err="1"/>
              <a:t>Concentrations</a:t>
            </a:r>
            <a:r>
              <a:rPr lang="de-DE" dirty="0"/>
              <a:t>: </a:t>
            </a:r>
            <a:r>
              <a:rPr lang="nn-NO" dirty="0"/>
              <a:t>TG,DG,MG,G,ME</a:t>
            </a:r>
          </a:p>
          <a:p>
            <a:pPr marL="742950" lvl="1" indent="-285750">
              <a:buFontTx/>
              <a:buChar char="-"/>
            </a:pPr>
            <a:r>
              <a:rPr lang="nn-NO" dirty="0"/>
              <a:t>Temperature</a:t>
            </a:r>
          </a:p>
          <a:p>
            <a:pPr marL="742950" lvl="1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Problems:</a:t>
            </a:r>
          </a:p>
          <a:p>
            <a:pPr marL="742950" lvl="1" indent="-285750">
              <a:buFontTx/>
              <a:buChar char="-"/>
            </a:pPr>
            <a:r>
              <a:rPr lang="de-DE" dirty="0" err="1"/>
              <a:t>Variance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different </a:t>
            </a:r>
            <a:r>
              <a:rPr lang="de-DE" dirty="0" err="1"/>
              <a:t>Experiements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1238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94DD5-F16E-F0A0-FE6E-08789EBF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Modelling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B76746-6F74-EE8B-DC51-22F252BED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764" y="1765243"/>
            <a:ext cx="5114495" cy="3622545"/>
          </a:xfrm>
        </p:spPr>
        <p:txBody>
          <a:bodyPr/>
          <a:lstStyle/>
          <a:p>
            <a:r>
              <a:rPr lang="de-DE" dirty="0" err="1"/>
              <a:t>Creates</a:t>
            </a:r>
            <a:r>
              <a:rPr lang="de-DE" dirty="0"/>
              <a:t> a Model and </a:t>
            </a:r>
            <a:r>
              <a:rPr lang="de-DE" dirty="0" err="1"/>
              <a:t>solves</a:t>
            </a:r>
            <a:r>
              <a:rPr lang="de-DE" dirty="0"/>
              <a:t> ODE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experiment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r>
              <a:rPr lang="de-DE" dirty="0"/>
              <a:t>First </a:t>
            </a:r>
            <a:r>
              <a:rPr lang="de-DE" dirty="0" err="1"/>
              <a:t>estimates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k </a:t>
            </a:r>
            <a:r>
              <a:rPr lang="de-DE" dirty="0" err="1"/>
              <a:t>values</a:t>
            </a:r>
            <a:r>
              <a:rPr lang="de-DE" dirty="0"/>
              <a:t> </a:t>
            </a:r>
          </a:p>
          <a:p>
            <a:r>
              <a:rPr lang="de-DE" dirty="0" err="1"/>
              <a:t>Solves</a:t>
            </a:r>
            <a:r>
              <a:rPr lang="de-DE" dirty="0"/>
              <a:t> ODE</a:t>
            </a:r>
          </a:p>
        </p:txBody>
      </p:sp>
      <p:pic>
        <p:nvPicPr>
          <p:cNvPr id="6" name="Inhaltsplatzhalter 5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4F71CC59-1A42-BC53-9DC9-C4F7DDAFC7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30117" y="1046806"/>
            <a:ext cx="6461883" cy="2924559"/>
          </a:xfrm>
          <a:prstGeom prst="rect">
            <a:avLst/>
          </a:prstGeom>
        </p:spPr>
      </p:pic>
      <p:pic>
        <p:nvPicPr>
          <p:cNvPr id="10" name="Grafik 9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A2FDC9FF-7CE4-FFE8-A121-BD18ECAEE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17" y="4141693"/>
            <a:ext cx="6448397" cy="234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95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8124B-A277-F27B-E335-DF84FD12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F61FA8-BC16-91E4-0E3A-A40A4634E0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C72C63-4ACA-9A51-8F8B-8B9053161D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7D71DDB9-FFDF-A3FF-3B53-73CA3651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036"/>
          <a:stretch>
            <a:fillRect/>
          </a:stretch>
        </p:blipFill>
        <p:spPr>
          <a:xfrm>
            <a:off x="6810148" y="-30141"/>
            <a:ext cx="5062875" cy="688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32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254A8-469A-14F4-5041-958A54CF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Experimental Pinn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669636-6008-3A2E-9330-500A4F2DC8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A: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k‘</a:t>
            </a:r>
          </a:p>
          <a:p>
            <a:r>
              <a:rPr lang="de-DE" dirty="0"/>
              <a:t>E: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k‘‘</a:t>
            </a:r>
          </a:p>
        </p:txBody>
      </p:sp>
      <p:pic>
        <p:nvPicPr>
          <p:cNvPr id="6" name="Inhaltsplatzhalter 5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89E41BA6-2E93-C3B3-755B-9FE5F25625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85898" y="1031357"/>
            <a:ext cx="4896320" cy="447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93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D64CE-1055-111C-9BB7-C273B006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A22CE3-4FDF-B69F-8DAF-5F20A79782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Loss: </a:t>
            </a:r>
          </a:p>
          <a:p>
            <a:r>
              <a:rPr lang="pt-BR" dirty="0"/>
              <a:t>total=2.809e-02 | phys=1.887e-02 concentration=9.211e-03</a:t>
            </a:r>
            <a:endParaRPr lang="de-DE" dirty="0"/>
          </a:p>
          <a:p>
            <a:r>
              <a:rPr lang="de-DE" dirty="0"/>
              <a:t>Energy </a:t>
            </a:r>
            <a:r>
              <a:rPr lang="de-DE" dirty="0" err="1"/>
              <a:t>balance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: </a:t>
            </a:r>
          </a:p>
          <a:p>
            <a:pPr lvl="1"/>
            <a:r>
              <a:rPr lang="de-DE" dirty="0"/>
              <a:t>e = 0.1734</a:t>
            </a:r>
          </a:p>
          <a:p>
            <a:pPr lvl="1"/>
            <a:r>
              <a:rPr lang="de-DE" dirty="0"/>
              <a:t>c1 = -0.4205 </a:t>
            </a:r>
          </a:p>
          <a:p>
            <a:pPr lvl="1"/>
            <a:r>
              <a:rPr lang="de-DE" dirty="0"/>
              <a:t>c2 = -0.4085</a:t>
            </a:r>
          </a:p>
        </p:txBody>
      </p:sp>
      <p:pic>
        <p:nvPicPr>
          <p:cNvPr id="10" name="Inhaltsplatzhalter 9" descr="Ein Bild, das Reihe, Diagramm, parallel, Text enthält.&#10;&#10;KI-generierte Inhalte können fehlerhaft sein.">
            <a:extLst>
              <a:ext uri="{FF2B5EF4-FFF2-40B4-BE49-F238E27FC236}">
                <a16:creationId xmlns:a16="http://schemas.microsoft.com/office/drawing/2014/main" id="{8814564A-41CD-2E94-1617-1129936E92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9130" y="1444011"/>
            <a:ext cx="4875213" cy="289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75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07F13-403F-D4BE-385B-0006B74D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Sources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468459-7E47-C802-C5A1-7B5ED0BF9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>
                <a:hlinkClick r:id="rId2"/>
              </a:rPr>
              <a:t>https://pages.di.unipi.it/milazzo/teaching/AA1819-CMCS/slides/04-ChemicalReactionMetaphor.pdf</a:t>
            </a:r>
            <a:endParaRPr lang="de-DE" dirty="0"/>
          </a:p>
          <a:p>
            <a:r>
              <a:rPr lang="de-DE" dirty="0"/>
              <a:t>Reduktion biochemischer Differentialgleichungen, Bachelorarbeit, Christian Schilli, Februar 2010</a:t>
            </a:r>
          </a:p>
          <a:p>
            <a:r>
              <a:rPr lang="en-US" dirty="0"/>
              <a:t>Autonomous Discovery of Unknown Reaction Pathways from Data by Chemical Reaction Neural Network, </a:t>
            </a:r>
            <a:r>
              <a:rPr lang="en-US" dirty="0" err="1"/>
              <a:t>Weiqi</a:t>
            </a:r>
            <a:r>
              <a:rPr lang="en-US" dirty="0"/>
              <a:t> Ji and Sili Deng, The Journal of Physical Chemistry A 2021 125 (4), 1082-1092 DOI: 10.1021/acs.jpca.0c09316</a:t>
            </a:r>
          </a:p>
          <a:p>
            <a:r>
              <a:rPr lang="de-DE" dirty="0"/>
              <a:t>Modeling Chemical </a:t>
            </a:r>
            <a:r>
              <a:rPr lang="de-DE" dirty="0" err="1"/>
              <a:t>Reaction</a:t>
            </a:r>
            <a:r>
              <a:rPr lang="de-DE" dirty="0"/>
              <a:t> Networks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Ordinary</a:t>
            </a:r>
            <a:r>
              <a:rPr lang="de-DE" dirty="0"/>
              <a:t> Differential </a:t>
            </a:r>
            <a:r>
              <a:rPr lang="de-DE" dirty="0" err="1"/>
              <a:t>Equations</a:t>
            </a:r>
            <a:r>
              <a:rPr lang="de-DE" b="1" dirty="0"/>
              <a:t>, </a:t>
            </a:r>
            <a:r>
              <a:rPr lang="de-DE" dirty="0"/>
              <a:t>Anna C. M. Thöni, William E. Robinson, Yoram </a:t>
            </a:r>
            <a:r>
              <a:rPr lang="de-DE" dirty="0" err="1"/>
              <a:t>Bachrach</a:t>
            </a:r>
            <a:r>
              <a:rPr lang="de-DE" dirty="0"/>
              <a:t>, Wilhelm T. S. Huck, and Tal </a:t>
            </a:r>
            <a:r>
              <a:rPr lang="de-DE" dirty="0" err="1"/>
              <a:t>Kachman</a:t>
            </a:r>
            <a:r>
              <a:rPr lang="de-DE" dirty="0"/>
              <a:t>, </a:t>
            </a:r>
            <a:r>
              <a:rPr lang="de-DE" i="1" dirty="0"/>
              <a:t>Journal </a:t>
            </a:r>
            <a:r>
              <a:rPr lang="de-DE" i="1" dirty="0" err="1"/>
              <a:t>of</a:t>
            </a:r>
            <a:r>
              <a:rPr lang="de-DE" i="1" dirty="0"/>
              <a:t> Chemical Information and Modeling</a:t>
            </a:r>
            <a:r>
              <a:rPr lang="de-DE" dirty="0"/>
              <a:t> </a:t>
            </a:r>
            <a:r>
              <a:rPr lang="de-DE" b="1" dirty="0"/>
              <a:t>2025</a:t>
            </a:r>
            <a:r>
              <a:rPr lang="de-DE" dirty="0"/>
              <a:t> </a:t>
            </a:r>
            <a:r>
              <a:rPr lang="de-DE" i="1" dirty="0"/>
              <a:t>65</a:t>
            </a:r>
            <a:r>
              <a:rPr lang="de-DE" dirty="0"/>
              <a:t> (9), 4346-4352 DOI: 10.1021/acs.jcim.5c00296</a:t>
            </a:r>
          </a:p>
          <a:p>
            <a:r>
              <a:rPr lang="de-DE" dirty="0"/>
              <a:t>Physics-Enhanced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Ordinary</a:t>
            </a:r>
            <a:r>
              <a:rPr lang="de-DE" dirty="0"/>
              <a:t> Differential </a:t>
            </a:r>
            <a:r>
              <a:rPr lang="de-DE" dirty="0" err="1"/>
              <a:t>Equations</a:t>
            </a:r>
            <a:r>
              <a:rPr lang="de-DE" dirty="0"/>
              <a:t>: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Industrial Chemical </a:t>
            </a:r>
            <a:r>
              <a:rPr lang="de-DE" dirty="0" err="1"/>
              <a:t>Reaction</a:t>
            </a:r>
            <a:r>
              <a:rPr lang="de-DE" dirty="0"/>
              <a:t> Systems</a:t>
            </a:r>
            <a:r>
              <a:rPr lang="de-DE" b="1" dirty="0"/>
              <a:t>, </a:t>
            </a:r>
            <a:r>
              <a:rPr lang="de-DE" dirty="0" err="1"/>
              <a:t>Farshud</a:t>
            </a:r>
            <a:r>
              <a:rPr lang="de-DE" dirty="0"/>
              <a:t> </a:t>
            </a:r>
            <a:r>
              <a:rPr lang="de-DE" dirty="0" err="1"/>
              <a:t>Sorourifar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Peng, Ivan Castillo, Linh Bui, Juan Venegas, and Joel A. Paulson </a:t>
            </a:r>
            <a:r>
              <a:rPr lang="de-DE" i="1" dirty="0"/>
              <a:t>Industrial &amp; Engineering Chemistry Research</a:t>
            </a:r>
            <a:r>
              <a:rPr lang="de-DE" dirty="0"/>
              <a:t> </a:t>
            </a:r>
            <a:r>
              <a:rPr lang="de-DE" b="1" dirty="0"/>
              <a:t>2023</a:t>
            </a:r>
            <a:r>
              <a:rPr lang="de-DE" dirty="0"/>
              <a:t> </a:t>
            </a:r>
            <a:r>
              <a:rPr lang="de-DE" i="1" dirty="0"/>
              <a:t>62</a:t>
            </a:r>
            <a:r>
              <a:rPr lang="de-DE" dirty="0"/>
              <a:t> (38), 15563-15577 DOI: 10.1021/acs.iecr.3c01471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2673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774</Words>
  <Application>Microsoft Office PowerPoint</Application>
  <PresentationFormat>Breitbild</PresentationFormat>
  <Paragraphs>113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Cambria Math</vt:lpstr>
      <vt:lpstr>Tw Cen MT</vt:lpstr>
      <vt:lpstr>Schaltkreis</vt:lpstr>
      <vt:lpstr>Scientific Machine Learning</vt:lpstr>
      <vt:lpstr>Outline</vt:lpstr>
      <vt:lpstr>mass action kinetics of chemical reactions</vt:lpstr>
      <vt:lpstr>The Problem</vt:lpstr>
      <vt:lpstr>ODE of a chemical reaction</vt:lpstr>
      <vt:lpstr>PowerPoint-Präsentation</vt:lpstr>
      <vt:lpstr>Why neural networks?</vt:lpstr>
      <vt:lpstr>Current Topic</vt:lpstr>
      <vt:lpstr>Biodiesel Project</vt:lpstr>
      <vt:lpstr>Arteficial Data</vt:lpstr>
      <vt:lpstr>Results and results with added noise</vt:lpstr>
      <vt:lpstr>PINN for arteficial DAta</vt:lpstr>
      <vt:lpstr>PowerPoint-Präsentation</vt:lpstr>
      <vt:lpstr>Experimental Data</vt:lpstr>
      <vt:lpstr>Modelling with ode</vt:lpstr>
      <vt:lpstr>Simulation with ode</vt:lpstr>
      <vt:lpstr>Experimental Pinn</vt:lpstr>
      <vt:lpstr>Results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Leaibi</dc:creator>
  <cp:lastModifiedBy>stplschw</cp:lastModifiedBy>
  <cp:revision>9</cp:revision>
  <dcterms:created xsi:type="dcterms:W3CDTF">2025-12-31T17:42:23Z</dcterms:created>
  <dcterms:modified xsi:type="dcterms:W3CDTF">2026-01-27T16:50:47Z</dcterms:modified>
</cp:coreProperties>
</file>